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[GIULIANA · ~20 s] Bom dia. Eu sou a Giuliana Finochio e este é o Alisson Alencar. O nosso projeto responde a uma pergunta simples que qualquer ginásio gostaria de saber: quem são os clientes que vão cancelar a subscrição no próximo mês? Construímos um pipeline de dados e Machine Learning, simples mas reprodutível, para responder a essa pergunta.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[GIULIANA · ~45 s] Num ginásio, cada cliente que cancela é receita perdida, e reter um cliente custa menos do que conquistar um novo. No dataset que usámos, do Kaggle, com 4000 clientes, mais de um em cada quatro — 26,5% — cancelou no mês seguinte. Por isso definimos a ficha de projeto assim: o utilizador é a equipa de retenção do ginásio; a decisão que apoiamos é quem contactar primeiro; a variável-alvo é o Churn, um problema de classificação binária. E fixámos o critério de sucesso antes de treinar: apanhar pelo menos 75% dos clientes que vão sair — recall de 0,75 — e ter um F1 claramente acima de um modelo ingénuo. Ficou fora do âmbito desenhar as campanhas de retenção e pôr o modelo em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[GIULIANA · ~50 s] Organizámos as duas semanas em três mini-sprints. No primeiro planeámos: ficha de projeto, riscos e o desenho do pipeline. No segundo construímos o núcleo: limpeza, divisão treino/teste, o pipeline e o modelo. No terceiro validámos, guardámos o modelo e preparámos o relatório e esta apresentação. Dividimos o trabalho assim: o Alisson ficou com os dados, o código e o modelo; eu fiquei com o relatório, a organização dos ficheiros e a apresentação — e revimos sempre o trabalho um do outro. Identificámos três riscos logo no início. O mais importante é a fuga de informação: se o modelo "espreitar" os dados de teste, os resultados parecem melhores do que são. O segundo é o desequilíbrio: só 26,5% saem, por isso a accuracy engana. O terceiro são variáveis muito correlacionadas, que tornam os coeficientes difíceis de ler. Cada risco tem a sua mitigação, que o Alisson vai mostrar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[ALISSON · ~45 s] Obrigado, Giuliana. Começámos por perceber os dados. São 4000 clientes e 13 variáveis: coisas como se o cliente mora perto, se veio por uma empresa parceira, a duração do contrato, a idade, há quanto tempo é cliente e com que frequência vai às aulas. A boa notícia é que o dataset está limpo: não há valores omissos, nem duplicados, nem identificadores para retirar. As variáveis mais associadas ao churn são todas negativas: quanto mais antigo o cliente, quanto mais frequenta, quanto mais velho e quanto mais longo o contrato, menos sai. E reparámos numa coisa importante: a frequência total e a frequência do mês atual têm correlação de 0,95 — quase a mesma informação. Isto vai ser importante quando lermos os coeficientes.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[ALISSON · ~60 s] Este é o nosso pipeline, da esquerda para a direita: dados brutos, limpeza, divisão treino/teste, pré-processamento, modelo, avaliação e, por fim, o modelo guardado. O mais importante aqui são os quatro pontos a vermelho, onde evitamos a fuga de informação. Um: a limpeza só remove IDs e duplicados, não calcula médias nem nada a partir dos dados. Dois: dividimos 80% para treino e 20% para teste, com random_state 42 e estratificado, ANTES de qualquer transformação. Três: a imputação, a codificação e a normalização estão dentro de um Pipeline do scikit-learn. Quando fazemos fit, as médias e medianas são calculadas só com o treino e depois aplicadas ao teste. Quatro: o conjunto de teste fica fechado e só é usado uma vez, na avaliação final. O CSV original nunca é alterado, e todo o código corre do princípio ao fim sem intervenção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[ALISSON · ~45 s] No pré-processamento usámos um ColumnTransformer, que aplica a cada grupo de variáveis o tratamento certo: nas contínuas, imputação pela mediana e normalização; na duração do contrato, que é um tipo de plano, codificação one-hot; nas binárias, só imputação pela moda. Pusemos imputação mesmo sem haver omissos, para que o modelo guardado funcione com dados novos incompletos. Como modelo usámos uma Regressão Logística, porque é simples e conseguimos explicar o efeito de cada variável. Para saber se vale a pena, comparámos com um baseline que prevê sempre que o cliente fica. E antes de tocar no teste fizemos validação cruzada com 5 folds no treino: F1 de 0,858 com desvio muito pequeno, o que mostra que o modelo é estável.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[ALISSON · ~60 s] E agora os resultados, nos 800 clientes de teste que o modelo nunca tinha visto. Escolhemos recall, precision e F1 da classe churn, porque com classes desequilibradas a accuracy engana. Vejam o baseline: tem 73,5% de accuracy, mas não apanha um único cliente que sai — F1 zero. A Regressão Logística tem recall de 0,825: dos 212 clientes que saíram, apanhou 175. A precision é 0,884: quando o modelo diz que alguém vai sair, acerta quase 9 em cada 10 vezes — só 23 falsos alarmes. O F1 é 0,854. Como o critério de sucesso era recall de pelo menos 0,75, o objetivo foi cumprido. Passo agora à Giuliana, que vai explicar o que o modelo nos diz sobre os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[GIULIANA · ~50 s] Como as variáveis foram normalizadas, podemos comparar os coeficientes. Os três mais influentes são estes. Primeiro, a frequência no mês atual, com sinal negativo: quanto mais o cliente vem agora, menor o risco de sair. Segundo, a antiguidade, também negativa: clientes de longa data são fiéis; os primeiros meses são o período crítico. O terceiro parece estranho à primeira vista: a frequência histórica tem sinal positivo. Mas lembrem-se do que o Alisson disse: está 95% correlacionada com a frequência do mês. Lidas em conjunto, querem dizer que, para a mesma frequência atual, quem costumava vir mais tem mais risco. Ou seja, o verdadeiro sinal de alerta é a queda da frequência em relação ao hábito do cliente. Para o ginásio, isto é muito prático: vigiar os clientes novos e os que começaram a faltar.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[GIULIANA · ~45 s] Para concluir: o pipeline está guardado com joblib e corre do princípio ao fim sem intervenção manual, tanto em script como no Colab. Na prática, o ginásio poderia corrê-lo no início de cada mês e entregar à equipa de retenção uma lista de clientes ordenada pelo risco. Temos consciência das limitações: assumimos que os dados do mês atual estão disponíveis no momento da previsão, e o limiar de 0,5 não tem em conta quanto custa cada ação de retenção. Como próximos passos, ajustaríamos esse limiar ao custo real, compararíamos com outros algoritmos e monitorizaríamos o recall todos os meses. Usámos IA generativa como apoio, mas executámos e verificámos todos os resultados. Obrigada pela atenção — ficamos disponíveis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84920"/>
            <a:ext cx="10566400" cy="446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84920"/>
            <a:ext cx="10566400" cy="446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6633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PROJETO DE INTELIGÊNCIA ARTIFICIAL · 2026/2027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69220"/>
            <a:ext cx="10883392" cy="142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7F6F2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Quem vai sair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7F6F2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do ginásio?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22528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3E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Um pipeline reprodutível para prever o churn de clientes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0271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Alisson Alencar · Giuliana Finochio — Docente: Jorge Pereira Duque — IPGT · CTeSP DAIA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O problema de negócio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35720"/>
            <a:ext cx="3810000" cy="4206280"/>
          </a:xfrm>
          <a:prstGeom prst="roundRect">
            <a:avLst>
              <a:gd name="adj" fmla="val 3333"/>
            </a:avLst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1168400" y="2780705"/>
            <a:ext cx="3191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2A65A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26,5%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1168400" y="3771305"/>
            <a:ext cx="3191764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F7F6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dos 4000 clientes cancelaram a subscrição no mês seguinte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32375" y="1638895"/>
            <a:ext cx="3092450" cy="2020590"/>
          </a:xfrm>
          <a:prstGeom prst="roundRect">
            <a:avLst>
              <a:gd name="adj" fmla="val 487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8750" y="1845270"/>
            <a:ext cx="27600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71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UTILIZADOR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38750" y="2134791"/>
            <a:ext cx="276009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Gestor e equipa de retenção do ginásio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83575" y="1638895"/>
            <a:ext cx="3092450" cy="2020590"/>
          </a:xfrm>
          <a:prstGeom prst="roundRect">
            <a:avLst>
              <a:gd name="adj" fmla="val 487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89950" y="1845270"/>
            <a:ext cx="27600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71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DECISÃO APOIADA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89950" y="2134791"/>
            <a:ext cx="276009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Que clientes contactar primeiro este mês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32375" y="3818235"/>
            <a:ext cx="3092450" cy="2020590"/>
          </a:xfrm>
          <a:prstGeom prst="roundRect">
            <a:avLst>
              <a:gd name="adj" fmla="val 487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8750" y="4024610"/>
            <a:ext cx="27600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71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VARIÁVEL-ALVO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8750" y="4314130"/>
            <a:ext cx="276009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Churn: 1 = sai, 0 = fica (classificação binária)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83575" y="3818235"/>
            <a:ext cx="3092450" cy="2020590"/>
          </a:xfrm>
          <a:prstGeom prst="roundRect">
            <a:avLst>
              <a:gd name="adj" fmla="val 487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9950" y="4024610"/>
            <a:ext cx="27600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71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CRITÉRIO DE SUCESSO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89950" y="4314130"/>
            <a:ext cx="276009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Recall ≥ 0,75 e F1 muito acima do baseline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Dados: Gym customers features and churn (Kaggle) · 4000 clientes, 13 variáveis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Planeamento: 3 mini-sprints, 3 riscos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095"/>
            <a:ext cx="5378450" cy="86608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769070"/>
            <a:ext cx="51146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6F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SPRINT 1 · PLANEAMENTO E DESENHO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2350" y="2033191"/>
            <a:ext cx="511467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Ficha de projeto, riscos, diagrama do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5975" y="2587526"/>
            <a:ext cx="5378450" cy="86608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350" y="2768501"/>
            <a:ext cx="51146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6F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SPRINT 2 · NÚCLEO FUNCIONAL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2350" y="3032621"/>
            <a:ext cx="511467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Limpeza, divisão 80/20, Pipeline, modelo e baseline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3586956"/>
            <a:ext cx="5378450" cy="86608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2350" y="3767931"/>
            <a:ext cx="51146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6F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SPRINT 3 · VALIDAÇÃO E ENTREGA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2350" y="4032052"/>
            <a:ext cx="511467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Métricas, joblib, README, relatório, apresentação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583212"/>
            <a:ext cx="554634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Alisson:</a:t>
            </a:r>
            <a:r>
              <a:rPr lang="en-US" sz="1300" dirty="0">
                <a:solidFill>
                  <a:srgbClr val="5A647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dados, código e modelo · </a:t>
            </a:r>
            <a:r>
              <a:rPr lang="en-US" sz="13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Giuliana:</a:t>
            </a:r>
            <a:r>
              <a:rPr lang="en-US" sz="1300" dirty="0">
                <a:solidFill>
                  <a:srgbClr val="5A647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relatório, ficheiros e apresentação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53200" y="1584920"/>
            <a:ext cx="4826000" cy="859730"/>
          </a:xfrm>
          <a:prstGeom prst="roundRect">
            <a:avLst>
              <a:gd name="adj" fmla="val 11818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6756400" y="1762720"/>
            <a:ext cx="45521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RISCO 1 · FUGA DE INFORMAÇÃO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56400" y="2026841"/>
            <a:ext cx="46228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7F6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Dividir antes de transformar; tudo dentro do Pipeline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53200" y="2571651"/>
            <a:ext cx="4826000" cy="859730"/>
          </a:xfrm>
          <a:prstGeom prst="roundRect">
            <a:avLst>
              <a:gd name="adj" fmla="val 11818"/>
            </a:avLst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6756400" y="2749451"/>
            <a:ext cx="45521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RISCO 2 · CLASSES DESEQUILIBRADAS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56400" y="3013571"/>
            <a:ext cx="455218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7F6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Stratify; avaliar recall e F1, não accuracy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53200" y="3558381"/>
            <a:ext cx="4826000" cy="859730"/>
          </a:xfrm>
          <a:prstGeom prst="roundRect">
            <a:avLst>
              <a:gd name="adj" fmla="val 11818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6756400" y="3736181"/>
            <a:ext cx="45521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RISCO 3 · VARIÁVEIS CORRELACIONADAS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56400" y="4000302"/>
            <a:ext cx="46228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7F6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Normalizar e interpretar os coeficientes em conjunto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Compreensão dos dados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35720"/>
            <a:ext cx="2527300" cy="1457871"/>
          </a:xfrm>
          <a:prstGeom prst="roundRect">
            <a:avLst>
              <a:gd name="adj" fmla="val 6969"/>
            </a:avLst>
          </a:prstGeom>
          <a:solidFill>
            <a:srgbClr val="F7F6F2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838920"/>
            <a:ext cx="2184527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4000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2392611"/>
            <a:ext cx="2184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clientes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92500" y="1635720"/>
            <a:ext cx="2527300" cy="1457871"/>
          </a:xfrm>
          <a:prstGeom prst="roundRect">
            <a:avLst>
              <a:gd name="adj" fmla="val 6969"/>
            </a:avLst>
          </a:prstGeom>
          <a:solidFill>
            <a:srgbClr val="F7F6F2"/>
          </a:solidFill>
          <a:ln/>
        </p:spPr>
      </p:sp>
      <p:sp>
        <p:nvSpPr>
          <p:cNvPr id="7" name="Text 5"/>
          <p:cNvSpPr/>
          <p:nvPr/>
        </p:nvSpPr>
        <p:spPr>
          <a:xfrm>
            <a:off x="3695700" y="1838920"/>
            <a:ext cx="2184527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13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95700" y="2392611"/>
            <a:ext cx="2184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variáveis explicativas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35720"/>
            <a:ext cx="2527300" cy="1457871"/>
          </a:xfrm>
          <a:prstGeom prst="roundRect">
            <a:avLst>
              <a:gd name="adj" fmla="val 6969"/>
            </a:avLst>
          </a:prstGeom>
          <a:solidFill>
            <a:srgbClr val="F7F6F2"/>
          </a:solidFill>
          <a:ln/>
        </p:spPr>
      </p:sp>
      <p:sp>
        <p:nvSpPr>
          <p:cNvPr id="10" name="Text 8"/>
          <p:cNvSpPr/>
          <p:nvPr/>
        </p:nvSpPr>
        <p:spPr>
          <a:xfrm>
            <a:off x="6375400" y="1838920"/>
            <a:ext cx="2184527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375400" y="2392611"/>
            <a:ext cx="21845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omissos, duplicados ou IDs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51900" y="1635720"/>
            <a:ext cx="2527300" cy="1457871"/>
          </a:xfrm>
          <a:prstGeom prst="roundRect">
            <a:avLst>
              <a:gd name="adj" fmla="val 6969"/>
            </a:avLst>
          </a:prstGeom>
          <a:solidFill>
            <a:srgbClr val="F7F6F2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838920"/>
            <a:ext cx="2184527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571C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0,95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055100" y="2392611"/>
            <a:ext cx="21845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correlação entre frequência total e do mês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344919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2E6F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MAIS ASSOCIADAS AO CHURN (CORRELAÇÃO)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3825081"/>
            <a:ext cx="2527300" cy="782241"/>
          </a:xfrm>
          <a:prstGeom prst="roundRect">
            <a:avLst>
              <a:gd name="adj" fmla="val 9741"/>
            </a:avLst>
          </a:prstGeom>
          <a:solidFill>
            <a:srgbClr val="F7F6F2"/>
          </a:solidFill>
          <a:ln/>
        </p:spPr>
        <p:txBody>
          <a:bodyPr wrap="square" lIns="155482" tIns="104682" rIns="90331" bIns="7928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Antiguidade </a:t>
            </a:r>
            <a:r>
              <a:rPr lang="en-US" sz="16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−0,44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92500" y="3825081"/>
            <a:ext cx="2527300" cy="782241"/>
          </a:xfrm>
          <a:prstGeom prst="roundRect">
            <a:avLst>
              <a:gd name="adj" fmla="val 9741"/>
            </a:avLst>
          </a:prstGeom>
          <a:solidFill>
            <a:srgbClr val="F7F6F2"/>
          </a:solidFill>
          <a:ln/>
        </p:spPr>
        <p:txBody>
          <a:bodyPr wrap="square" lIns="155482" tIns="104682" rIns="90331" bIns="7928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Frequência no mês </a:t>
            </a:r>
            <a:r>
              <a:rPr lang="en-US" sz="16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−0,41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3825081"/>
            <a:ext cx="2527300" cy="782241"/>
          </a:xfrm>
          <a:prstGeom prst="roundRect">
            <a:avLst>
              <a:gd name="adj" fmla="val 9741"/>
            </a:avLst>
          </a:prstGeom>
          <a:solidFill>
            <a:srgbClr val="F7F6F2"/>
          </a:solidFill>
          <a:ln/>
        </p:spPr>
        <p:txBody>
          <a:bodyPr wrap="square" lIns="155482" tIns="104682" rIns="90331" bIns="7928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Idade </a:t>
            </a:r>
            <a:r>
              <a:rPr lang="en-US" sz="16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−0,41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51900" y="3825081"/>
            <a:ext cx="2527300" cy="782241"/>
          </a:xfrm>
          <a:prstGeom prst="roundRect">
            <a:avLst>
              <a:gd name="adj" fmla="val 9741"/>
            </a:avLst>
          </a:prstGeom>
          <a:solidFill>
            <a:srgbClr val="F7F6F2"/>
          </a:solidFill>
          <a:ln/>
        </p:spPr>
        <p:txBody>
          <a:bodyPr wrap="square" lIns="155482" tIns="104682" rIns="90331" bIns="7928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Duração do contrato </a:t>
            </a:r>
            <a:r>
              <a:rPr lang="en-US" sz="16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−0,39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O pipeline e a fuga de informação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83320"/>
            <a:ext cx="10566400" cy="321310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/>
        </p:spPr>
      </p:sp>
      <p:pic>
        <p:nvPicPr>
          <p:cNvPr id="4" name="Image 0" descr="Diagrama do pipeline: dados brutos, limpeza, divisão treino/teste, pré-processamento, modelo, avaliação e modelo guardado, com quatro pontos de controlo da fuga de informação">    </p:cNvPr>
          <p:cNvPicPr>
            <a:picLocks noChangeAspect="1"/>
          </p:cNvPicPr>
          <p:nvPr/>
        </p:nvPicPr>
        <p:blipFill>
          <a:blip r:embed="rId1"/>
          <a:srcRect l="0" r="0" t="-16" b="-16"/>
          <a:stretch/>
        </p:blipFill>
        <p:spPr>
          <a:xfrm>
            <a:off x="1651000" y="1584920"/>
            <a:ext cx="8890000" cy="3009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899620"/>
            <a:ext cx="2546350" cy="648891"/>
          </a:xfrm>
          <a:prstGeom prst="roundRect">
            <a:avLst>
              <a:gd name="adj" fmla="val 7829"/>
            </a:avLst>
          </a:prstGeom>
          <a:solidFill>
            <a:srgbClr val="F7F6F2"/>
          </a:solidFill>
          <a:ln/>
        </p:spPr>
        <p:txBody>
          <a:bodyPr wrap="square" lIns="150221" tIns="86721" rIns="44494" bIns="61321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①</a:t>
            </a:r>
            <a:r>
              <a:rPr lang="en-US" sz="13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Limpeza sem estatísticas aprendidas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2800" y="4899620"/>
            <a:ext cx="2546350" cy="648891"/>
          </a:xfrm>
          <a:custGeom>
            <a:avLst/>
            <a:gdLst/>
            <a:ahLst/>
            <a:cxnLst/>
            <a:rect l="l" t="t" r="r" b="b"/>
            <a:pathLst>
              <a:path w="2546350" h="648891">
                <a:moveTo>
                  <a:pt x="50800" y="648891"/>
                </a:moveTo>
                <a:lnTo>
                  <a:pt x="50800" y="648891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598091"/>
                </a:lnTo>
                <a:arcTo hR="50800" wR="12700" stAng="10800000" swAng="-5400000"/>
                <a:close/>
              </a:path>
            </a:pathLst>
          </a:custGeom>
          <a:solidFill>
            <a:srgbClr val="B5571C"/>
          </a:solidFill>
          <a:ln/>
        </p:spPr>
      </p:sp>
      <p:sp>
        <p:nvSpPr>
          <p:cNvPr id="7" name="Text 4"/>
          <p:cNvSpPr/>
          <p:nvPr/>
        </p:nvSpPr>
        <p:spPr>
          <a:xfrm>
            <a:off x="3486150" y="4899620"/>
            <a:ext cx="2546350" cy="648891"/>
          </a:xfrm>
          <a:prstGeom prst="roundRect">
            <a:avLst>
              <a:gd name="adj" fmla="val 7829"/>
            </a:avLst>
          </a:prstGeom>
          <a:solidFill>
            <a:srgbClr val="F7F6F2"/>
          </a:solidFill>
          <a:ln/>
        </p:spPr>
        <p:txBody>
          <a:bodyPr wrap="square" lIns="150221" tIns="86721" rIns="44494" bIns="61321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②</a:t>
            </a:r>
            <a:r>
              <a:rPr lang="en-US" sz="13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Divisão 80/20 antes de transformar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86150" y="4899620"/>
            <a:ext cx="2546350" cy="648891"/>
          </a:xfrm>
          <a:custGeom>
            <a:avLst/>
            <a:gdLst/>
            <a:ahLst/>
            <a:cxnLst/>
            <a:rect l="l" t="t" r="r" b="b"/>
            <a:pathLst>
              <a:path w="2546350" h="648891">
                <a:moveTo>
                  <a:pt x="50800" y="648891"/>
                </a:moveTo>
                <a:lnTo>
                  <a:pt x="50800" y="648891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598091"/>
                </a:lnTo>
                <a:arcTo hR="50800" wR="12700" stAng="10800000" swAng="-5400000"/>
                <a:close/>
              </a:path>
            </a:pathLst>
          </a:custGeom>
          <a:solidFill>
            <a:srgbClr val="B5571C"/>
          </a:solidFill>
          <a:ln/>
        </p:spPr>
      </p:sp>
      <p:sp>
        <p:nvSpPr>
          <p:cNvPr id="9" name="Text 6"/>
          <p:cNvSpPr/>
          <p:nvPr/>
        </p:nvSpPr>
        <p:spPr>
          <a:xfrm>
            <a:off x="6159500" y="4899620"/>
            <a:ext cx="2546350" cy="648891"/>
          </a:xfrm>
          <a:prstGeom prst="roundRect">
            <a:avLst>
              <a:gd name="adj" fmla="val 7829"/>
            </a:avLst>
          </a:prstGeom>
          <a:solidFill>
            <a:srgbClr val="F7F6F2"/>
          </a:solidFill>
          <a:ln/>
        </p:spPr>
        <p:txBody>
          <a:bodyPr wrap="square" lIns="150221" tIns="86721" rIns="44494" bIns="61321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③</a:t>
            </a:r>
            <a:r>
              <a:rPr lang="en-US" sz="13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fit() só com os dados de treino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59500" y="4899620"/>
            <a:ext cx="2546350" cy="648891"/>
          </a:xfrm>
          <a:custGeom>
            <a:avLst/>
            <a:gdLst/>
            <a:ahLst/>
            <a:cxnLst/>
            <a:rect l="l" t="t" r="r" b="b"/>
            <a:pathLst>
              <a:path w="2546350" h="648891">
                <a:moveTo>
                  <a:pt x="50800" y="648891"/>
                </a:moveTo>
                <a:lnTo>
                  <a:pt x="50800" y="648891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598091"/>
                </a:lnTo>
                <a:arcTo hR="50800" wR="12700" stAng="10800000" swAng="-5400000"/>
                <a:close/>
              </a:path>
            </a:pathLst>
          </a:custGeom>
          <a:solidFill>
            <a:srgbClr val="B5571C"/>
          </a:solidFill>
          <a:ln/>
        </p:spPr>
      </p:sp>
      <p:sp>
        <p:nvSpPr>
          <p:cNvPr id="11" name="Text 8"/>
          <p:cNvSpPr/>
          <p:nvPr/>
        </p:nvSpPr>
        <p:spPr>
          <a:xfrm>
            <a:off x="8832850" y="4899620"/>
            <a:ext cx="2546350" cy="648891"/>
          </a:xfrm>
          <a:prstGeom prst="roundRect">
            <a:avLst>
              <a:gd name="adj" fmla="val 7829"/>
            </a:avLst>
          </a:prstGeom>
          <a:solidFill>
            <a:srgbClr val="F7F6F2"/>
          </a:solidFill>
          <a:ln/>
        </p:spPr>
        <p:txBody>
          <a:bodyPr wrap="square" lIns="150221" tIns="86721" rIns="44494" bIns="61321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④</a:t>
            </a:r>
            <a:r>
              <a:rPr lang="en-US" sz="13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Teste usado uma só vez, no fim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832850" y="4899620"/>
            <a:ext cx="2546350" cy="648891"/>
          </a:xfrm>
          <a:custGeom>
            <a:avLst/>
            <a:gdLst/>
            <a:ahLst/>
            <a:cxnLst/>
            <a:rect l="l" t="t" r="r" b="b"/>
            <a:pathLst>
              <a:path w="2546350" h="648891">
                <a:moveTo>
                  <a:pt x="50800" y="648891"/>
                </a:moveTo>
                <a:lnTo>
                  <a:pt x="50800" y="648891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598091"/>
                </a:lnTo>
                <a:arcTo hR="50800" wR="12700" stAng="10800000" swAng="-5400000"/>
                <a:close/>
              </a:path>
            </a:pathLst>
          </a:custGeom>
          <a:solidFill>
            <a:srgbClr val="B5571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Preparação e modelação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20"/>
            <a:ext cx="63312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2E6F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COLUMNTRANSFORMER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800" y="1960811"/>
            <a:ext cx="6146800" cy="1556742"/>
          </a:xfrm>
          <a:prstGeom prst="rect">
            <a:avLst/>
          </a:prstGeom>
          <a:solidFill>
            <a:srgbClr val="F7F6F2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73511"/>
          <a:ext cx="6134100" cy="1544042"/>
        </p:xfrm>
        <a:graphic>
          <a:graphicData uri="http://schemas.openxmlformats.org/drawingml/2006/table">
            <a:tbl>
              <a:tblPr/>
              <a:tblGrid>
                <a:gridCol w="1840230"/>
                <a:gridCol w="1840230"/>
                <a:gridCol w="2453640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Variáveis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Imputação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Transformação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6 contínuas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mediana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StandardScaler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Contrato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moda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OneHotEncoder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6 binárias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moda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—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3644553"/>
            <a:ext cx="633120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Imputação incluída mesmo sem omissos: o modelo guardado aguenta dados novos incompletos.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0" y="1584920"/>
            <a:ext cx="4064000" cy="1241326"/>
          </a:xfrm>
          <a:prstGeom prst="roundRect">
            <a:avLst>
              <a:gd name="adj" fmla="val 8185"/>
            </a:avLst>
          </a:prstGeom>
          <a:solidFill>
            <a:srgbClr val="14213D"/>
          </a:solidFill>
          <a:ln/>
        </p:spPr>
      </p:sp>
      <p:sp>
        <p:nvSpPr>
          <p:cNvPr id="8" name="Text 5"/>
          <p:cNvSpPr/>
          <p:nvPr/>
        </p:nvSpPr>
        <p:spPr>
          <a:xfrm>
            <a:off x="7518400" y="1788120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MODELO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18400" y="2052241"/>
            <a:ext cx="3767328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7F6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Regressão Logística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518400" y="2400201"/>
            <a:ext cx="3767328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Simples e interpretável pelos coeficientes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0" y="2953246"/>
            <a:ext cx="4064000" cy="910530"/>
          </a:xfrm>
          <a:prstGeom prst="roundRect">
            <a:avLst>
              <a:gd name="adj" fmla="val 11158"/>
            </a:avLst>
          </a:prstGeom>
          <a:solidFill>
            <a:srgbClr val="F7F6F2"/>
          </a:solidFill>
          <a:ln/>
        </p:spPr>
      </p:sp>
      <p:sp>
        <p:nvSpPr>
          <p:cNvPr id="12" name="Text 9"/>
          <p:cNvSpPr/>
          <p:nvPr/>
        </p:nvSpPr>
        <p:spPr>
          <a:xfrm>
            <a:off x="7518400" y="3156446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71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18400" y="3420566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DummyClassifier: prevê sempre «fica»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0" y="3990777"/>
            <a:ext cx="4064000" cy="910530"/>
          </a:xfrm>
          <a:prstGeom prst="roundRect">
            <a:avLst>
              <a:gd name="adj" fmla="val 11158"/>
            </a:avLst>
          </a:prstGeom>
          <a:solidFill>
            <a:srgbClr val="F7F6F2"/>
          </a:solidFill>
          <a:ln/>
        </p:spPr>
      </p:sp>
      <p:sp>
        <p:nvSpPr>
          <p:cNvPr id="15" name="Text 12"/>
          <p:cNvSpPr/>
          <p:nvPr/>
        </p:nvSpPr>
        <p:spPr>
          <a:xfrm>
            <a:off x="7518400" y="4193977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71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VALIDAÇÃO CRUZADA (5 FOLDS)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18400" y="4458097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F1 = 0,858 ± 0,017 → modelo estável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Resultados no conjunto de teste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84920"/>
            <a:ext cx="1794917" cy="1097211"/>
          </a:xfrm>
          <a:prstGeom prst="roundRect">
            <a:avLst>
              <a:gd name="adj" fmla="val 9260"/>
            </a:avLst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1762720"/>
            <a:ext cx="14901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2001441"/>
            <a:ext cx="1490117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7F6F2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0,825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34717" y="1584920"/>
            <a:ext cx="1794966" cy="1097211"/>
          </a:xfrm>
          <a:prstGeom prst="roundRect">
            <a:avLst>
              <a:gd name="adj" fmla="val 9260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2912517" y="1762720"/>
            <a:ext cx="14901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12517" y="2001441"/>
            <a:ext cx="1490166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7F6F2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0,884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656683" y="1584920"/>
            <a:ext cx="1794917" cy="1097211"/>
          </a:xfrm>
          <a:prstGeom prst="roundRect">
            <a:avLst>
              <a:gd name="adj" fmla="val 9260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4834483" y="1762720"/>
            <a:ext cx="14901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34483" y="2001441"/>
            <a:ext cx="1490117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7F6F2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0,854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12800" y="2834531"/>
            <a:ext cx="580796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Apanha </a:t>
            </a:r>
            <a:r>
              <a:rPr lang="en-US" sz="1500" b="1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175 dos 212</a:t>
            </a:r>
            <a:r>
              <a:rPr lang="en-US" sz="15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clientes que saem, com só </a:t>
            </a:r>
            <a:r>
              <a:rPr lang="en-US" sz="1500" b="1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23 falsos alarmes</a:t>
            </a:r>
            <a:r>
              <a:rPr lang="en-US" sz="15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em 588.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3520331"/>
            <a:ext cx="580796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Baseline: 73,5% de accuracy mas </a:t>
            </a:r>
            <a:r>
              <a:rPr lang="en-US" sz="1500" b="1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F1 = 0</a:t>
            </a:r>
            <a:r>
              <a:rPr lang="en-US" sz="15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não deteta nenhum churn.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4206131"/>
            <a:ext cx="580796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Critério de sucesso cumprido (recall ≥ 0,75).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10375" y="1952526"/>
            <a:ext cx="4565650" cy="2152650"/>
          </a:xfrm>
          <a:prstGeom prst="roundRect">
            <a:avLst>
              <a:gd name="adj" fmla="val 4572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pic>
        <p:nvPicPr>
          <p:cNvPr id="16" name="Image 0" descr="Matrizes de confusão: baseline com 588 verdadeiros negativos e 212 falsos negativos; Regressão Logística com 565 verdadeiros negativos, 23 falsos positivos, 37 falsos negativos e 175 verdadeiros positivos">    </p:cNvPr>
          <p:cNvPicPr>
            <a:picLocks noChangeAspect="1"/>
          </p:cNvPicPr>
          <p:nvPr/>
        </p:nvPicPr>
        <p:blipFill>
          <a:blip r:embed="rId1"/>
          <a:srcRect l="0" r="0" t="-36" b="-36"/>
          <a:stretch/>
        </p:blipFill>
        <p:spPr>
          <a:xfrm>
            <a:off x="6915150" y="2057301"/>
            <a:ext cx="43688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7F6F2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O que o modelo nos diz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84920"/>
            <a:ext cx="3420517" cy="1532186"/>
          </a:xfrm>
          <a:prstGeom prst="roundRect">
            <a:avLst>
              <a:gd name="adj" fmla="val 6631"/>
            </a:avLst>
          </a:prstGeom>
          <a:solidFill>
            <a:srgbClr val="22325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788120"/>
            <a:ext cx="310454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8FC1F2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−4,22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2367211"/>
            <a:ext cx="310454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7F6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Frequência no mês atual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6000" y="2691061"/>
            <a:ext cx="310454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Mais aulas agora → menos risco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5717" y="1584920"/>
            <a:ext cx="3420566" cy="1532186"/>
          </a:xfrm>
          <a:prstGeom prst="roundRect">
            <a:avLst>
              <a:gd name="adj" fmla="val 6631"/>
            </a:avLst>
          </a:prstGeom>
          <a:solidFill>
            <a:srgbClr val="22325A"/>
          </a:solidFill>
          <a:ln/>
        </p:spPr>
      </p:sp>
      <p:sp>
        <p:nvSpPr>
          <p:cNvPr id="8" name="Text 6"/>
          <p:cNvSpPr/>
          <p:nvPr/>
        </p:nvSpPr>
        <p:spPr>
          <a:xfrm>
            <a:off x="4588917" y="1788120"/>
            <a:ext cx="3104591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8FC1F2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−3,76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88917" y="2367211"/>
            <a:ext cx="310459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7F6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Antiguidade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88917" y="2691061"/>
            <a:ext cx="310459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Os primeiros meses são críticos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8683" y="1584920"/>
            <a:ext cx="3420517" cy="1532186"/>
          </a:xfrm>
          <a:prstGeom prst="roundRect">
            <a:avLst>
              <a:gd name="adj" fmla="val 6631"/>
            </a:avLst>
          </a:prstGeom>
          <a:solidFill>
            <a:srgbClr val="22325A"/>
          </a:solidFill>
          <a:ln/>
        </p:spPr>
      </p:sp>
      <p:sp>
        <p:nvSpPr>
          <p:cNvPr id="12" name="Text 10"/>
          <p:cNvSpPr/>
          <p:nvPr/>
        </p:nvSpPr>
        <p:spPr>
          <a:xfrm>
            <a:off x="8161883" y="1788120"/>
            <a:ext cx="310454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65A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+3,14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161883" y="2367211"/>
            <a:ext cx="310454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7F6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Frequência histórica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61883" y="2691061"/>
            <a:ext cx="310454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Lida com a do mês (r = 0,95)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3421906"/>
            <a:ext cx="11379200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F7F6F2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O sinal de alerta é a </a:t>
            </a:r>
            <a:r>
              <a:rPr lang="en-US" sz="2400" dirty="0">
                <a:solidFill>
                  <a:srgbClr val="F2A65A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queda da frequência</a:t>
            </a:r>
            <a:r>
              <a:rPr lang="en-US" sz="2400" dirty="0">
                <a:solidFill>
                  <a:srgbClr val="F7F6F2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 face ao hábito do cliente.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Conclusões e próximos passos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095"/>
            <a:ext cx="3414167" cy="169783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794470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6F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IMPLEMENTAÇÃO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2350" y="2083991"/>
            <a:ext cx="3091459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Pipeline guardado com joblib; corre sem intervenção, em .py ou no Colab. Lista mensal de clientes ordenada por risco.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8892" y="1588095"/>
            <a:ext cx="3414216" cy="169783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5267" y="1794470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71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LIMITAÇÕES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95267" y="2083991"/>
            <a:ext cx="3091510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Assume dados do mês atual disponíveis; limiar de 0,5 não reflete o custo de cada ação.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61858" y="1588095"/>
            <a:ext cx="3414167" cy="169783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8233" y="1794470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6B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TRABALHO FUTURO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68233" y="2083991"/>
            <a:ext cx="3091459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344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Ajustar o limiar ao custo, comparar outros algoritmos e monitorizar o recall todos os meses.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593902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47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IA generativa (Claude, Gemini) usada no apoio ao código e ao texto; resultados verificados pela equipa ao executar o código.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5415310"/>
            <a:ext cx="1088339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Libre Baskerville" pitchFamily="18" charset="0"/>
                <a:ea typeface="Libre Baskerville" pitchFamily="18" charset="-122"/>
                <a:cs typeface="Libre Baskerville" pitchFamily="18" charset="-120"/>
              </a:rPr>
              <a:t>Obrigado. Perguntas?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visão de Churn de Clientes de um Ginásio">
  <a:themeElements>
    <a:clrScheme name="Previsão de Churn de Clientes de um Ginásio">
      <a:dk1>
        <a:srgbClr val="14213D"/>
      </a:dk1>
      <a:lt1>
        <a:srgbClr val="F7F6F2"/>
      </a:lt1>
      <a:dk2>
        <a:srgbClr val="4D566A"/>
      </a:dk2>
      <a:lt2>
        <a:srgbClr val="E0E1E0"/>
      </a:lt2>
      <a:accent1>
        <a:srgbClr val="F2A65A"/>
      </a:accent1>
      <a:accent2>
        <a:srgbClr val="B5571C"/>
      </a:accent2>
      <a:accent3>
        <a:srgbClr val="2E6FB0"/>
      </a:accent3>
      <a:accent4>
        <a:srgbClr val="22325A"/>
      </a:accent4>
      <a:accent5>
        <a:srgbClr val="1F6B3A"/>
      </a:accent5>
      <a:accent6>
        <a:srgbClr val="8FC1F2"/>
      </a:accent6>
      <a:hlink>
        <a:srgbClr val="0563C1"/>
      </a:hlink>
      <a:folHlink>
        <a:srgbClr val="954F72"/>
      </a:folHlink>
    </a:clrScheme>
    <a:fontScheme name="Previsão de Churn de Clientes de um Ginásio">
      <a:majorFont>
        <a:latin typeface="Libre Baskervil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de Churn de Clientes de um Ginásio</dc:title>
  <dc:subject/>
  <dc:creator/>
  <cp:lastModifiedBy/>
  <cp:revision>1</cp:revision>
  <dcterms:created xsi:type="dcterms:W3CDTF">2026-10-15T14:45:42Z</dcterms:created>
  <dcterms:modified xsi:type="dcterms:W3CDTF">2026-10-15T14:45:42Z</dcterms:modified>
</cp:coreProperties>
</file>